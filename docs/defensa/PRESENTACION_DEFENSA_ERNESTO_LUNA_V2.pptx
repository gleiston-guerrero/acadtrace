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Saludar al docente con seguridad. Decir: 'Buenos días Ingeniero Guerrero. Soy Ernesto Gregory Luna Mora, responsable de Secretaría y Calidad del equipo BCEL. Hoy sustento la inmutabilidad y aseguramiento de calidad de AcadTrace'.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'Ingeniero, si un DBA altera una nota directamente en la tabla, el sistema normal no tiene cómo detectarlo. Por eso AcadTrace implementa Defensa en Profundidad: trigger físico en BD + auditoría criptográfica desacoplada'.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Resumir los 4 pilares en 30 segundos. Cada pilar corresponde a un componente concreto desarrollado y probado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'El trigger se ejecuta BEFORE UPDATE OR DELETE por cada fila. Si alguien intenta alterar un dato, PostgreSQL cancela la operación al instante'.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'Resaltar MessageDigest.isEqual: evita ataques de temporización de canal lateral porque compara en tiempo constante O(1). Ubicación: microservicio-secretaria/.../HmacService.java'.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'Criterio C9: Ética Profesional. Ciframos cédulas y teléfonos de niños y representantes con AES-256-GCM. El IV se genera al azar por cada registro y se concatena al texto cifrado'.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'El profesor observó falta de pruebas en el informe preliminar. Aquí están las 21 pruebas automatizadas pasando al 100% en 0.35 segundos'.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'Criterio C3: Sinceramiento empírico. No inflamos datos al 85%. Publicamos la realidad auditada por JaCoCo y certificamos que el sistema tiene cero falsos positivos'.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'Criterio C8: Vinculamos formalmente cada issue con su revisor par. Mi Pull Request #60 fue revisado y fusionado directamente en main tras verificar las 21 pruebas'.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'Pregunta clásica del Ing. Guerrero. Lamport para transacciones secuenciales en Secretaría; Relojes Vectoriales para resolver conflictos concurrentes offline en la app móvil del docente'.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'Si el docente pide demostración en vivo, abro la consola de PowerShell en acadtrace y ejecuto cualquiera de estos 4 comandos'.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'Concluyo mi defensa agradeciendo al Ingeniero Guerrero y quedando a su entera disposición para preguntas técnicas o demostración de código'.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8A44"/>
                </a:solidFill>
              </a:defRPr>
            </a:pPr>
            <a:r>
              <a:t>UNIVERSIDAD TÉCNICA ESTATAL DE QUEVEDO</a:t>
            </a:r>
          </a:p>
          <a:p>
            <a:pPr>
              <a:defRPr sz="1200">
                <a:solidFill>
                  <a:srgbClr val="D2DAE6"/>
                </a:solidFill>
              </a:defRPr>
            </a:pPr>
            <a:r>
              <a:t>FACULTAD DE CIENCIAS DE LA COMPUTACIÓN — INGENIERÍA DE SOFTWARE</a:t>
            </a:r>
          </a:p>
          <a:p>
            <a:br/>
            <a:pPr>
              <a:defRPr sz="3600" b="1">
                <a:solidFill>
                  <a:srgbClr val="FFFFFF"/>
                </a:solidFill>
              </a:defRPr>
            </a:pPr>
            <a:r>
              <a:t>AcadTrace: Auditoría Criptográfica y Calidad</a:t>
            </a:r>
          </a:p>
          <a:p>
            <a:pPr>
              <a:defRPr sz="1800">
                <a:solidFill>
                  <a:srgbClr val="D2DAE6"/>
                </a:solidFill>
              </a:defRPr>
            </a:pPr>
            <a:r>
              <a:t>Defensa Oral Individual — Entrega 4 [ISR-701]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966960" cy="1645920"/>
          </a:xfrm>
          <a:prstGeom prst="roundRect">
            <a:avLst/>
          </a:prstGeom>
          <a:solidFill>
            <a:srgbClr val="163273"/>
          </a:solidFill>
          <a:ln w="19050">
            <a:solidFill>
              <a:srgbClr val="168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26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Defensor: Ernesto Gregory Luna Mora</a:t>
            </a:r>
          </a:p>
          <a:p>
            <a:pPr>
              <a:defRPr sz="1400" b="1">
                <a:solidFill>
                  <a:srgbClr val="168A44"/>
                </a:solidFill>
              </a:defRPr>
            </a:pPr>
            <a:r>
              <a:t>Rol: Responsable de Microservicio Secretaría y Calidad  |  Equipo BCEL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Docente Revisor: Prof. Ing. Gleiston C. Guerrero-Ulloa, Mgs.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A44"/>
                </a:solidFill>
              </a:defRPr>
            </a:pPr>
            <a:r>
              <a:t>ACADTRACE — DEFENSA PFC ENTREGA 4 (BCEL)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El Problema: La Falacia del No-Repudio en BD Relacionales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55F"/>
                </a:solidFill>
              </a:defRPr>
            </a:pPr>
            <a:r>
              <a:t>Ernesto Gregory Luna Mora — Responsable de Secretaría y Calidad  |  Diapositiva 2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32323"/>
                </a:solidFill>
              </a:defRPr>
            </a:pPr>
            <a:r>
              <a:t>❌ Riesgo en Bases Tradicionales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Superusuario DBA Privilegiado: </a:t>
            </a:r>
            <a:r>
              <a:rPr sz="1300">
                <a:solidFill>
                  <a:srgbClr val="50555F"/>
                </a:solidFill>
              </a:rPr>
              <a:t>Un rol 'postgres' puede alterar notas con un simple UPDATE directo.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Evasión de Triggers: </a:t>
            </a:r>
            <a:r>
              <a:rPr sz="1300">
                <a:solidFill>
                  <a:srgbClr val="50555F"/>
                </a:solidFill>
              </a:rPr>
              <a:t>Comandos 'DISABLE TRIGGER' eluden cualquier regla estándar del motor.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Logs Planos Adulterables: </a:t>
            </a:r>
            <a:r>
              <a:rPr sz="1300">
                <a:solidFill>
                  <a:srgbClr val="50555F"/>
                </a:solidFill>
              </a:rPr>
              <a:t>Los archivos de log pueden borrarse o alterarse sin dejar rastro.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Consecuencia: </a:t>
            </a:r>
            <a:r>
              <a:rPr sz="1300">
                <a:solidFill>
                  <a:srgbClr val="50555F"/>
                </a:solidFill>
              </a:rPr>
              <a:t>Cero garantías de no-repudio ante auditorías legales o académicas.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8A44"/>
                </a:solidFill>
              </a:defRPr>
            </a:pPr>
            <a:r>
              <a:t>🛡️ Solución: Defensa en Profundidad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✓ Persistencia Inmutable: </a:t>
            </a:r>
            <a:r>
              <a:rPr sz="1300">
                <a:solidFill>
                  <a:srgbClr val="50555F"/>
                </a:solidFill>
              </a:rPr>
              <a:t>Trigger Append-Only PL/pgSQL que aborta sentencias UPDATE y DELETE.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✓ Cripto-Auditoría Externa: </a:t>
            </a:r>
            <a:r>
              <a:rPr sz="1300">
                <a:solidFill>
                  <a:srgbClr val="50555F"/>
                </a:solidFill>
              </a:rPr>
              <a:t>Encadenamiento transitivo HMAC-SHA256 que detecta alteraciones fuera del motor.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✓ Protección de Menores (C9): </a:t>
            </a:r>
            <a:r>
              <a:rPr sz="1300">
                <a:solidFill>
                  <a:srgbClr val="50555F"/>
                </a:solidFill>
              </a:rPr>
              <a:t>Cifrado AES-256-GCM para datos sensibles (LOPDP).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✓ Calidad Continua (C7): </a:t>
            </a:r>
            <a:r>
              <a:rPr sz="1300">
                <a:solidFill>
                  <a:srgbClr val="50555F"/>
                </a:solidFill>
              </a:rPr>
              <a:t>21 pruebas automatizadas de contratos, integración y E2E.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A44"/>
                </a:solidFill>
              </a:defRPr>
            </a:pPr>
            <a:r>
              <a:t>ACADTRACE — DEFENSA PFC ENTREGA 4 (BCEL)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Los 4 Pilares Técnicos de Ernesto Luna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55F"/>
                </a:solidFill>
              </a:defRPr>
            </a:pPr>
            <a:r>
              <a:t>Ernesto Gregory Luna Mora — Responsable de Secretaría y Calidad  |  Diapositiva 3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14600" cy="731520"/>
          </a:xfrm>
          <a:prstGeom prst="rect">
            <a:avLst/>
          </a:prstGeom>
          <a:solidFill>
            <a:srgbClr val="144BAA"/>
          </a:solidFill>
          <a:ln>
            <a:solidFill>
              <a:srgbClr val="14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Inmutabilidad en Persistencia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44BAA"/>
                </a:solidFill>
              </a:defRPr>
            </a:pPr>
            <a:r>
              <a:t>PostgreSQL Append-Only</a:t>
            </a:r>
          </a:p>
          <a:p>
            <a:pPr>
              <a:defRPr sz="1300">
                <a:solidFill>
                  <a:srgbClr val="19191E"/>
                </a:solidFill>
              </a:defRPr>
            </a:pPr>
            <a:r>
              <a:t>Trigger PL/pgSQL que aborta físicamente sentencias UPDATE y DELETE en auditoría.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51460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371600"/>
            <a:ext cx="2514600" cy="731520"/>
          </a:xfrm>
          <a:prstGeom prst="rect">
            <a:avLst/>
          </a:prstGeom>
          <a:solidFill>
            <a:srgbClr val="168A44"/>
          </a:solidFill>
          <a:ln>
            <a:solidFill>
              <a:srgbClr val="168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71600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Cripto-Auditoría Verificable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9456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68A44"/>
                </a:solidFill>
              </a:defRPr>
            </a:pPr>
            <a:r>
              <a:t>HMAC-SHA256 Chaining</a:t>
            </a:r>
          </a:p>
          <a:p>
            <a:pPr>
              <a:defRPr sz="1300">
                <a:solidFill>
                  <a:srgbClr val="19191E"/>
                </a:solidFill>
              </a:defRPr>
            </a:pPr>
            <a:r>
              <a:t>Encadenamiento de hashes Hi y comparación Timing-Safe O(1) con MessageDigest.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51460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514600" cy="731520"/>
          </a:xfrm>
          <a:prstGeom prst="rect">
            <a:avLst/>
          </a:prstGeom>
          <a:solidFill>
            <a:srgbClr val="0F2557"/>
          </a:solidFill>
          <a:ln>
            <a:solidFill>
              <a:srgbClr val="0F2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71600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Privacidad y Ética (C9)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9456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F2557"/>
                </a:solidFill>
              </a:defRPr>
            </a:pPr>
            <a:r>
              <a:t>AES-256-GCM para Menores</a:t>
            </a:r>
          </a:p>
          <a:p>
            <a:pPr>
              <a:defRPr sz="1300">
                <a:solidFill>
                  <a:srgbClr val="19191E"/>
                </a:solidFill>
              </a:defRPr>
            </a:pPr>
            <a:r>
              <a:t>Cifrado con IV aleatorio de 12B y tag de 128 bits para alumnos según la LOPDP.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371600"/>
            <a:ext cx="251460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371600"/>
            <a:ext cx="2514600" cy="731520"/>
          </a:xfrm>
          <a:prstGeom prst="rect">
            <a:avLst/>
          </a:prstGeom>
          <a:solidFill>
            <a:srgbClr val="C32323"/>
          </a:solidFill>
          <a:ln>
            <a:solidFill>
              <a:srgbClr val="C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371600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Aseguramiento de Calidad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194560"/>
            <a:ext cx="2240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C32323"/>
                </a:solidFill>
              </a:defRPr>
            </a:pPr>
            <a:r>
              <a:t>21 Pruebas Automáticas</a:t>
            </a:r>
          </a:p>
          <a:p>
            <a:pPr>
              <a:defRPr sz="1300">
                <a:solidFill>
                  <a:srgbClr val="19191E"/>
                </a:solidFill>
              </a:defRPr>
            </a:pPr>
            <a:r>
              <a:t>Suites continuas en Python de contratos proto3, HAProxy y ciclo E2E (C7).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A44"/>
                </a:solidFill>
              </a:defRPr>
            </a:pPr>
            <a:r>
              <a:t>ACADTRACE — DEFENSA PFC ENTREGA 4 (BCEL)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Pieza 1: Disparador Append-Only en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55F"/>
                </a:solidFill>
              </a:defRPr>
            </a:pPr>
            <a:r>
              <a:t>Ernesto Gregory Luna Mora — Responsable de Secretaría y Calidad  |  Diapositiva 4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40080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557"/>
                </a:solidFill>
              </a:defRPr>
            </a:pPr>
            <a:r>
              <a:t>Código Fuente: V9__trigger_auditoria_append_only.sql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6035040" cy="3931920"/>
          </a:xfrm>
          <a:prstGeom prst="rect">
            <a:avLst/>
          </a:prstGeom>
          <a:solidFill>
            <a:srgbClr val="EBF0F8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5852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191E"/>
                </a:solidFill>
                <a:latin typeface="Consolas"/>
              </a:defRPr>
            </a:pPr>
            <a:r>
              <a:t>-- Bloqueo fisico en motor PostgreSQL</a:t>
            </a:r>
            <a:br/>
            <a:r>
              <a:t>CREATE OR REPLACE FUNCTION </a:t>
            </a:r>
            <a:br/>
            <a:r>
              <a:t>sga_principal.prohibir_modificacion_auditoria()</a:t>
            </a:r>
            <a:br/>
            <a:r>
              <a:t>RETURNS TRIGGER AS $$</a:t>
            </a:r>
            <a:br/>
            <a:r>
              <a:t>BEGIN</a:t>
            </a:r>
            <a:br/>
            <a:r>
              <a:t>    RAISE EXCEPTION 'Operacion rechazada: La tabla </a:t>
            </a:r>
            <a:br/>
            <a:r>
              <a:t>    auditoria es una bitacora inmutable append-only';</a:t>
            </a:r>
            <a:br/>
            <a:r>
              <a:t>END;</a:t>
            </a:r>
            <a:br/>
            <a:r>
              <a:t>$$ LANGUAGE plpgsql;</a:t>
            </a:r>
            <a:br/>
            <a:br/>
            <a:r>
              <a:t>CREATE TRIGGER tg_auditoria_append_only</a:t>
            </a:r>
            <a:br/>
            <a:r>
              <a:t>BEFORE UPDATE OR DELETE ON sga_principal.auditoria</a:t>
            </a:r>
            <a:br/>
            <a:r>
              <a:t>FOR EACH ROW EXECUTE FUNCTION </a:t>
            </a:r>
            <a:br/>
            <a:r>
              <a:t>sga_principal.prohibir_modificacion_auditoria();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402336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5544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4BAA"/>
                </a:solidFill>
              </a:defRPr>
            </a:pPr>
            <a:r>
              <a:t>Puntos de Defensa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01168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Ubicación: </a:t>
            </a:r>
            <a:r>
              <a:rPr sz="1300">
                <a:solidFill>
                  <a:srgbClr val="50555F"/>
                </a:solidFill>
              </a:rPr>
              <a:t>sga-principal/sql/V9... y docs/db/schema.sql.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Momento BEFORE: </a:t>
            </a:r>
            <a:r>
              <a:rPr sz="1300">
                <a:solidFill>
                  <a:srgbClr val="50555F"/>
                </a:solidFill>
              </a:rPr>
              <a:t>Actúa antes de tocar los bloques en disco.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RAISE EXCEPTION: </a:t>
            </a:r>
            <a:r>
              <a:rPr sz="1300">
                <a:solidFill>
                  <a:srgbClr val="50555F"/>
                </a:solidFill>
              </a:rPr>
              <a:t>Aborta inmediatamente la transacción SQL.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Defensa contra DBA: </a:t>
            </a:r>
            <a:r>
              <a:rPr sz="1300">
                <a:solidFill>
                  <a:srgbClr val="50555F"/>
                </a:solidFill>
              </a:rPr>
              <a:t>Si el superusuario desactiva el trigger, la firma HMAC y el hash chaining detectan el fraude.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A44"/>
                </a:solidFill>
              </a:defRPr>
            </a:pPr>
            <a:r>
              <a:t>ACADTRACE — DEFENSA PFC ENTREGA 4 (BCEL)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Pieza 2: Cripto-Auditoría HMAC-SHA256 Timing-Safe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55F"/>
                </a:solidFill>
              </a:defRPr>
            </a:pPr>
            <a:r>
              <a:t>Ernesto Gregory Luna Mora — Responsable de Secretaría y Calidad  |  Diapositiva 5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40080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557"/>
                </a:solidFill>
              </a:defRPr>
            </a:pPr>
            <a:r>
              <a:t>Código Fuente: HmacService.java (Secretaría)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6035040" cy="3931920"/>
          </a:xfrm>
          <a:prstGeom prst="rect">
            <a:avLst/>
          </a:prstGeom>
          <a:solidFill>
            <a:srgbClr val="EBF0F8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5852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191E"/>
                </a:solidFill>
                <a:latin typeface="Consolas"/>
              </a:defRPr>
            </a:pPr>
            <a:r>
              <a:t>// Firma y Verificacion en Tiempo Constante O(1)</a:t>
            </a:r>
            <a:br/>
            <a:r>
              <a:t>public synchronized String firmar(String... campos) {</a:t>
            </a:r>
            <a:br/>
            <a:r>
              <a:t>    String canonical = String.join("|", campos);</a:t>
            </a:r>
            <a:br/>
            <a:r>
              <a:t>    byte[] digest = mac.doFinal(canonical.getBytes(UTF_8));</a:t>
            </a:r>
            <a:br/>
            <a:r>
              <a:t>    return bytesToHex(digest); // 64 caracteres hex</a:t>
            </a:r>
            <a:br/>
            <a:r>
              <a:t>}</a:t>
            </a:r>
            <a:br/>
            <a:br/>
            <a:r>
              <a:t>public boolean verificar(String esperado, String... campos) {</a:t>
            </a:r>
            <a:br/>
            <a:r>
              <a:t>    String calculado = firmar(campos);</a:t>
            </a:r>
            <a:br/>
            <a:r>
              <a:t>    </a:t>
            </a:r>
            <a:br/>
            <a:r>
              <a:t>    // Comparacion en tiempo constante O(1):</a:t>
            </a:r>
            <a:br/>
            <a:r>
              <a:t>    // Inmunidad contra ataques de canal lateral</a:t>
            </a:r>
            <a:br/>
            <a:r>
              <a:t>    return MessageDigest.isEqual(</a:t>
            </a:r>
            <a:br/>
            <a:r>
              <a:t>        esperado.getBytes(UTF_8), calculado.getBytes(UTF_8));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402336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5544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8A44"/>
                </a:solidFill>
              </a:defRPr>
            </a:pPr>
            <a:r>
              <a:t>Fundamento Criptográfico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01168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Encadenamiento: </a:t>
            </a:r>
            <a:r>
              <a:rPr sz="1300">
                <a:solidFill>
                  <a:srgbClr val="50555F"/>
                </a:solidFill>
              </a:rPr>
              <a:t>Hi = HMAC(K, payload_i || Hi-1). Cadena acíclica dirigida.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Timing-Attack Safe: </a:t>
            </a:r>
            <a:r>
              <a:rPr sz="1300">
                <a:solidFill>
                  <a:srgbClr val="50555F"/>
                </a:solidFill>
              </a:rPr>
              <a:t>MessageDigest.isEqual compara en tiempo uniforme; evita deducción de bytes por latencia de CPU.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Ataque T1: </a:t>
            </a:r>
            <a:r>
              <a:rPr sz="1300">
                <a:solidFill>
                  <a:srgbClr val="50555F"/>
                </a:solidFill>
              </a:rPr>
              <a:t>Modificación de datos rompe la igualdad del hash.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Ataque T2: </a:t>
            </a:r>
            <a:r>
              <a:rPr sz="1300">
                <a:solidFill>
                  <a:srgbClr val="50555F"/>
                </a:solidFill>
              </a:rPr>
              <a:t>Borrado de eventos mutila el enlace Hi-1 subsiguiente.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A44"/>
                </a:solidFill>
              </a:defRPr>
            </a:pPr>
            <a:r>
              <a:t>ACADTRACE — DEFENSA PFC ENTREGA 4 (BCEL)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Pieza 3: Cifrado AES-256-GCM para Menores (Criterio C9)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55F"/>
                </a:solidFill>
              </a:defRPr>
            </a:pPr>
            <a:r>
              <a:t>Ernesto Gregory Luna Mora — Responsable de Secretaría y Calidad  |  Diapositiva 6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40080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557"/>
                </a:solidFill>
              </a:defRPr>
            </a:pPr>
            <a:r>
              <a:t>Código Fuente: CryptoService.java (Secretaría)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6035040" cy="3931920"/>
          </a:xfrm>
          <a:prstGeom prst="rect">
            <a:avLst/>
          </a:prstGeom>
          <a:solidFill>
            <a:srgbClr val="EBF0F8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5852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9191E"/>
                </a:solidFill>
                <a:latin typeface="Consolas"/>
              </a:defRPr>
            </a:pPr>
            <a:r>
              <a:t>// Cifrado Simetrico Autenticado (LOPDP)</a:t>
            </a:r>
            <a:br/>
            <a:r>
              <a:t>private static final String ALGO = "AES/GCM/NoPadding";</a:t>
            </a:r>
            <a:br/>
            <a:r>
              <a:t>private static final int IV_LEN = 12;   // 12 bytes IV</a:t>
            </a:r>
            <a:br/>
            <a:r>
              <a:t>private static final int TAG_BITS = 128; // 128 bits tag</a:t>
            </a:r>
            <a:br/>
            <a:br/>
            <a:r>
              <a:t>public String encrypt(String plaintext) {</a:t>
            </a:r>
            <a:br/>
            <a:r>
              <a:t>    byte[] iv = new byte[IV_LEN];</a:t>
            </a:r>
            <a:br/>
            <a:r>
              <a:t>    random.nextBytes(iv); // IV aleatorio por operacion</a:t>
            </a:r>
            <a:br/>
            <a:r>
              <a:t>    </a:t>
            </a:r>
            <a:br/>
            <a:r>
              <a:t>    Cipher cipher = Cipher.getInstance(ALGO);</a:t>
            </a:r>
            <a:br/>
            <a:r>
              <a:t>    cipher.init(ENCRYPT_MODE, key, </a:t>
            </a:r>
            <a:br/>
            <a:r>
              <a:t>                new GCMParameterSpec(TAG_BITS, iv));</a:t>
            </a:r>
            <a:br/>
            <a:r>
              <a:t>    byte[] ciphertext = cipher.doFinal(plaintext.getBytes());</a:t>
            </a:r>
            <a:br/>
            <a:br/>
            <a:r>
              <a:t>    // Empaque seguro: IV prepended al ciphertext</a:t>
            </a:r>
            <a:br/>
            <a:r>
              <a:t>    return Base64.encode(concat(iv, ciphertext));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402336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5544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4BAA"/>
                </a:solidFill>
              </a:defRPr>
            </a:pPr>
            <a:r>
              <a:t>Protección de Menores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01168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Escuela Provincias Unidas: </a:t>
            </a:r>
            <a:r>
              <a:rPr sz="1300">
                <a:solidFill>
                  <a:srgbClr val="50555F"/>
                </a:solidFill>
              </a:rPr>
              <a:t>Protegemos datos de alumnos (menores de edad) y representantes.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Cumplimiento LOPDP: </a:t>
            </a:r>
            <a:r>
              <a:rPr sz="1300">
                <a:solidFill>
                  <a:srgbClr val="50555F"/>
                </a:solidFill>
              </a:rPr>
              <a:t>La Ley Orgánica de Protección de Datos exige cifrado estricto en reposo.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Modo GCM: </a:t>
            </a:r>
            <a:r>
              <a:rPr sz="1300">
                <a:solidFill>
                  <a:srgbClr val="50555F"/>
                </a:solidFill>
              </a:rPr>
              <a:t>Provee confidencialidad y autenticidad simultánea mediante un tag de 128 bits.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9191E"/>
                </a:solidFill>
              </a:rPr>
              <a:t>• Nonce Aleatorio Único: </a:t>
            </a:r>
            <a:r>
              <a:rPr sz="1300">
                <a:solidFill>
                  <a:srgbClr val="50555F"/>
                </a:solidFill>
              </a:rPr>
              <a:t>El IV de 12 bytes nunca se reutiliza; previene análisis de patrones.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A44"/>
                </a:solidFill>
              </a:defRPr>
            </a:pPr>
            <a:r>
              <a:t>ACADTRACE — DEFENSA PFC ENTREGA 4 (BCEL)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Calidad: 21 Pruebas Automatizadas (Criterio C7 y Listado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55F"/>
                </a:solidFill>
              </a:defRPr>
            </a:pPr>
            <a:r>
              <a:t>Ernesto Gregory Luna Mora — Responsable de Secretaría y Calidad  |  Diapositiva 7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393192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4BAA"/>
                </a:solidFill>
              </a:defRPr>
            </a:pPr>
            <a:r>
              <a:t>Contratos (7 Tests)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44BAA"/>
                </a:solidFill>
                <a:latin typeface="Consolas"/>
              </a:defRPr>
            </a:pPr>
            <a:r>
              <a:t>tests/contract/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9191E"/>
                </a:solidFill>
              </a:rPr>
              <a:t>✓ Sintaxis proto3 en todos los contratos gRPC.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9191E"/>
                </a:solidFill>
              </a:rPr>
              <a:t>✓ Paridad de métodos RPC entre Principal y Docente.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9191E"/>
                </a:solidFill>
              </a:rPr>
              <a:t>✓ Concordancia de tags y números de campo.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9191E"/>
                </a:solidFill>
              </a:rPr>
              <a:t>✓ Especificación formal OpenAPI 3.0 con JWT.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393192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54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8A44"/>
                </a:solidFill>
              </a:defRPr>
            </a:pPr>
            <a:r>
              <a:t>Integración (8 Tests)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68A44"/>
                </a:solidFill>
                <a:latin typeface="Consolas"/>
              </a:defRPr>
            </a:pPr>
            <a:r>
              <a:t>tests/integration/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9191E"/>
                </a:solidFill>
              </a:rPr>
              <a:t>✓ HAProxy: Balanceo roundrobin (REST) y leastconn (gRPC).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9191E"/>
                </a:solidFill>
              </a:rPr>
              <a:t>✓ HAProxy: Health checks y dashboard en puerto 8404.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9191E"/>
                </a:solidFill>
              </a:rPr>
              <a:t>✓ Aislamiento multi-esquema en PostgreSQL.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9191E"/>
                </a:solidFill>
              </a:rPr>
              <a:t>✓ Trazabilidad distribuida con cabecera X-Trace-Id.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393192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557"/>
                </a:solidFill>
              </a:defRPr>
            </a:pPr>
            <a:r>
              <a:t>Ciclo E2E (6 Tests)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2557"/>
                </a:solidFill>
                <a:latin typeface="Consolas"/>
              </a:defRPr>
            </a:pPr>
            <a:r>
              <a:t>tests/e2e/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9191E"/>
                </a:solidFill>
              </a:rPr>
              <a:t>✓ Rechazo perimetral HTTP 401 sin JWT.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9191E"/>
                </a:solidFill>
              </a:rPr>
              <a:t>✓ Validación de firmas JWT HMAC-SHA256.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9191E"/>
                </a:solidFill>
              </a:rPr>
              <a:t>✓ Detección de manipulación en base de datos (T1).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9191E"/>
                </a:solidFill>
              </a:rPr>
              <a:t>✓ Detección de borrado (T2) y Relojes Vectoriales (M3).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Consolas"/>
              </a:defRPr>
            </a:pPr>
            <a:r>
              <a:t>Ejecución en Vivo: python -m pytest tests/contract tests/integration tests/e2e -v  --&gt;  21 PASSED en 0.35s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A44"/>
                </a:solidFill>
              </a:defRPr>
            </a:pPr>
            <a:r>
              <a:t>ACADTRACE — DEFENSA PFC ENTREGA 4 (BCEL)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Sinceramiento Empírico y Cero Falsos Positivos (C2, C3, P4)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55F"/>
                </a:solidFill>
              </a:defRPr>
            </a:pPr>
            <a:r>
              <a:t>Ernesto Gregory Luna Mora — Responsable de Secretaría y Calidad  |  Diapositiva 8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310896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44BAA"/>
                </a:solidFill>
              </a:defRPr>
            </a:pPr>
            <a:r>
              <a:t>106,735</a:t>
            </a:r>
          </a:p>
          <a:p>
            <a:pPr>
              <a:spcAft>
                <a:spcPts val="800"/>
              </a:spcAft>
              <a:defRPr sz="1400" b="1">
                <a:solidFill>
                  <a:srgbClr val="19191E"/>
                </a:solidFill>
              </a:defRPr>
            </a:pPr>
            <a:r>
              <a:t>Peticiones de Estrés en Locust</a:t>
            </a:r>
          </a:p>
          <a:p>
            <a:pPr>
              <a:defRPr sz="1200">
                <a:solidFill>
                  <a:srgbClr val="50555F"/>
                </a:solidFill>
              </a:defRPr>
            </a:pPr>
            <a:r>
              <a:t>• 99.98% tasa de éxito real</a:t>
            </a:r>
            <a:br/>
            <a:r>
              <a:t>• Latencia P95: 9.8 ms</a:t>
            </a:r>
            <a:br/>
            <a:r>
              <a:t>• Leído dinámicamente de 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310896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68A44"/>
                </a:solidFill>
              </a:defRPr>
            </a:pPr>
            <a:r>
              <a:t>100% / 34.5%</a:t>
            </a:r>
          </a:p>
          <a:p>
            <a:pPr>
              <a:spcAft>
                <a:spcPts val="800"/>
              </a:spcAft>
              <a:defRPr sz="1400" b="1">
                <a:solidFill>
                  <a:srgbClr val="19191E"/>
                </a:solidFill>
              </a:defRPr>
            </a:pPr>
            <a:r>
              <a:t>Cobertura JaCoCo Sincera</a:t>
            </a:r>
          </a:p>
          <a:p>
            <a:pPr>
              <a:defRPr sz="1200">
                <a:solidFill>
                  <a:srgbClr val="50555F"/>
                </a:solidFill>
              </a:defRPr>
            </a:pPr>
            <a:r>
              <a:t>• 100% Cripto-Core y Seguridad</a:t>
            </a:r>
            <a:br/>
            <a:r>
              <a:t>• 34.52% Secretaría global</a:t>
            </a:r>
            <a:br/>
            <a:r>
              <a:t>• 0.51% Principal (protoc)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310896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C32323"/>
                </a:solidFill>
              </a:defRPr>
            </a:pPr>
            <a:r>
              <a:t>FPR = 0.00%</a:t>
            </a:r>
          </a:p>
          <a:p>
            <a:pPr>
              <a:spcAft>
                <a:spcPts val="800"/>
              </a:spcAft>
              <a:defRPr sz="1400" b="1">
                <a:solidFill>
                  <a:srgbClr val="19191E"/>
                </a:solidFill>
              </a:defRPr>
            </a:pPr>
            <a:r>
              <a:t>Tasa de Falsos Positivos</a:t>
            </a:r>
          </a:p>
          <a:p>
            <a:pPr>
              <a:defRPr sz="1200">
                <a:solidFill>
                  <a:srgbClr val="50555F"/>
                </a:solidFill>
              </a:defRPr>
            </a:pPr>
            <a:r>
              <a:t>• 30 cadenas legítimas (falsos_positivos.csv)</a:t>
            </a:r>
            <a:br/>
            <a:r>
              <a:t>• IC 95% Clopper-Pearson: [0.0%, 11.6%]</a:t>
            </a:r>
            <a:br/>
            <a:r>
              <a:t>• Tiempo medio: 0.15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698480" cy="15544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557"/>
                </a:solidFill>
              </a:defRPr>
            </a:pPr>
            <a:r>
              <a:t>Honestidad Científica (Criterio C3 y C6)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9191E"/>
                </a:solidFill>
              </a:defRPr>
            </a:pPr>
            <a:r>
              <a:t>• Eliminamos métricas inventadas: todos los datos se extraen de herramientas reales (Locust, JaCoCo).</a:t>
            </a:r>
            <a:br/>
            <a:r>
              <a:t>• Sinceramos JaCoCo: las pruebas unitarias se concentraron donde reside el riesgo (criptografía y persistencia).</a:t>
            </a:r>
            <a:br/>
            <a:r>
              <a:t>• FPR = 0.00% garantiza que ningún certificado o nota legítima será rechazada falsamente.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A44"/>
                </a:solidFill>
              </a:defRPr>
            </a:pPr>
            <a:r>
              <a:t>ACADTRACE — DEFENSA PFC ENTREGA 4 (BCEL)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Revisión Cruzada y Trazabilidad de Issues (Criterio C8)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55F"/>
                </a:solidFill>
              </a:defRPr>
            </a:pPr>
            <a:r>
              <a:t>Ernesto Gregory Luna Mora — Responsable de Secretaría y Calidad  |  Diapositiva 9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557"/>
                </a:solidFill>
              </a:defRPr>
            </a:pPr>
            <a:r>
              <a:t>Matriz de Issues de GitHub vs Pull Requests y Pares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11680"/>
          <a:ext cx="103327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023360"/>
                <a:gridCol w="1737360"/>
                <a:gridCol w="1737360"/>
                <a:gridCol w="1554480"/>
              </a:tblGrid>
              <a:tr h="56170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Issue #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Compromiso Técnico Resuelto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Autor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Revisor Par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Estado / PR</a:t>
                      </a:r>
                    </a:p>
                  </a:txBody>
                  <a:tcPr>
                    <a:solidFill>
                      <a:srgbClr val="0F2557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9191E"/>
                          </a:solidFill>
                        </a:defRPr>
                      </a:pPr>
                      <a:r>
                        <a:t>#38 / #41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Trigger Append-Only e inmutabilidad en auditoría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Luna (Ernesto)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Castro (Pedro)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9191E"/>
                          </a:solidFill>
                        </a:defRPr>
                      </a:pPr>
                      <a:r>
                        <a:t>PR #55 (Merged)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9191E"/>
                          </a:solidFill>
                        </a:defRPr>
                      </a:pPr>
                      <a:r>
                        <a:t>#44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Sinceramiento de cobertura JaCoCo en Secretaría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Luna (Ernesto)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Bedón (Keyla)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9191E"/>
                          </a:solidFill>
                        </a:defRPr>
                      </a:pPr>
                      <a:r>
                        <a:t>PR #58 (Merged)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9191E"/>
                          </a:solidFill>
                        </a:defRPr>
                      </a:pPr>
                      <a:r>
                        <a:t>#47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Integración gRPC entre SGA Principal y Docente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Bedón (Keyla)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Emanuel (Juliana)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9191E"/>
                          </a:solidFill>
                        </a:defRPr>
                      </a:pPr>
                      <a:r>
                        <a:t>PR #56 (Merged)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9191E"/>
                          </a:solidFill>
                        </a:defRPr>
                      </a:pPr>
                      <a:r>
                        <a:t>#50 / #53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Locust de estrés (106k reqs) y Grafana PostgreSQL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Emanuel (Juliana)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Luna (Ernesto)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9191E"/>
                          </a:solidFill>
                        </a:defRPr>
                      </a:pPr>
                      <a:r>
                        <a:t>PR #59 (Merged)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9191E"/>
                          </a:solidFill>
                        </a:defRPr>
                      </a:pPr>
                      <a:r>
                        <a:t>#57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Protocolo de reproducibilidad determinista C4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Castro (Pedro)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Luna (Ernesto)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9191E"/>
                          </a:solidFill>
                        </a:defRPr>
                      </a:pPr>
                      <a:r>
                        <a:t>Commit 11051309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9191E"/>
                          </a:solidFill>
                        </a:defRPr>
                      </a:pPr>
                      <a:r>
                        <a:t>#60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Consolidación de suites C7 y métricas FPR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Luna (Ernesto)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9191E"/>
                          </a:solidFill>
                        </a:defRPr>
                      </a:pPr>
                      <a:r>
                        <a:t>Equipo BCEL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68A44"/>
                          </a:solidFill>
                        </a:defRPr>
                      </a:pPr>
                      <a:r>
                        <a:t>FUSIONADO A MAIN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A44"/>
                </a:solidFill>
              </a:defRPr>
            </a:pPr>
            <a:r>
              <a:t>ACADTRACE — DEFENSA PFC ENTREGA 4 (BCEL)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Relojes Lógicos: Lamport vs Relojes Vectoriales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55F"/>
                </a:solidFill>
              </a:defRPr>
            </a:pPr>
            <a:r>
              <a:t>Ernesto Gregory Luna Mora — Responsable de Secretaría y Calidad  |  Diapositiva 10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4BAA"/>
                </a:solidFill>
              </a:defRPr>
            </a:pPr>
            <a:r>
              <a:t>Reloj de Lamport (Escalar)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400">
                <a:solidFill>
                  <a:srgbClr val="19191E"/>
                </a:solidFill>
              </a:rPr>
              <a:t>• Fórmula: </a:t>
            </a:r>
            <a:r>
              <a:rPr sz="1300">
                <a:solidFill>
                  <a:srgbClr val="50555F"/>
                </a:solidFill>
              </a:rPr>
              <a:t>L = max(L_local, L_rx) + 1.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19191E"/>
                </a:solidFill>
              </a:rPr>
              <a:t>• Garantía: </a:t>
            </a:r>
            <a:r>
              <a:rPr sz="1300">
                <a:solidFill>
                  <a:srgbClr val="50555F"/>
                </a:solidFill>
              </a:rPr>
              <a:t>Orden total causal débil: si A -&gt; B entonces L(A) &lt; L(B). No detecta concurrencia.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19191E"/>
                </a:solidFill>
              </a:rPr>
              <a:t>• Ubicación en AcadTrace: </a:t>
            </a:r>
            <a:r>
              <a:rPr sz="1300">
                <a:solidFill>
                  <a:srgbClr val="50555F"/>
                </a:solidFill>
              </a:rPr>
              <a:t>Secretaría y SGA Principal para secuenciar eventos transaccionales de matrículas.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19191E"/>
                </a:solidFill>
              </a:rPr>
              <a:t>• Sobrecarga: </a:t>
            </a:r>
            <a:r>
              <a:rPr sz="1300">
                <a:solidFill>
                  <a:srgbClr val="50555F"/>
                </a:solidFill>
              </a:rPr>
              <a:t>Mínima: un solo entero escalar en cabecera.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8A44"/>
                </a:solidFill>
              </a:defRPr>
            </a:pPr>
            <a:r>
              <a:t>Relojes Vectoriales (Vector Clocks)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400">
                <a:solidFill>
                  <a:srgbClr val="19191E"/>
                </a:solidFill>
              </a:rPr>
              <a:t>• Estructura: </a:t>
            </a:r>
            <a:r>
              <a:rPr sz="1300">
                <a:solidFill>
                  <a:srgbClr val="50555F"/>
                </a:solidFill>
              </a:rPr>
              <a:t>V = [v_docente1, v_docente2, v_servidor].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19191E"/>
                </a:solidFill>
              </a:rPr>
              <a:t>• Garantía: </a:t>
            </a:r>
            <a:r>
              <a:rPr sz="1300">
                <a:solidFill>
                  <a:srgbClr val="50555F"/>
                </a:solidFill>
              </a:rPr>
              <a:t>Detecta concurrencia estricta (A || B) cuando ningún vector domina al otro.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19191E"/>
                </a:solidFill>
              </a:rPr>
              <a:t>• Ubicación en AcadTrace: </a:t>
            </a:r>
            <a:r>
              <a:rPr sz="1300">
                <a:solidFill>
                  <a:srgbClr val="50555F"/>
                </a:solidFill>
              </a:rPr>
              <a:t>Microservicio Docente y App Móvil para calificar sin conexión a internet.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19191E"/>
                </a:solidFill>
              </a:rPr>
              <a:t>• Reconciliación M3: </a:t>
            </a:r>
            <a:r>
              <a:rPr sz="1300">
                <a:solidFill>
                  <a:srgbClr val="50555F"/>
                </a:solidFill>
              </a:rPr>
              <a:t>V_rec = max(v_A, v_B) y regla determinista para resolver colisiones de notas.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A44"/>
                </a:solidFill>
              </a:defRPr>
            </a:pPr>
            <a:r>
              <a:t>ACADTRACE — DEFENSA PFC ENTREGA 4 (BCEL)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Demostración en Vivo: Comandos Clave en PowerShell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55F"/>
                </a:solidFill>
              </a:defRPr>
            </a:pPr>
            <a:r>
              <a:t>Ernesto Gregory Luna Mora — Responsable de Secretaría y Calidad  |  Diapositiva 11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4BAA"/>
                </a:solidFill>
              </a:defRPr>
            </a:pPr>
            <a:r>
              <a:t>1. Pruebas Automatizadas (C7)</a:t>
            </a:r>
          </a:p>
          <a:p>
            <a:pPr>
              <a:defRPr sz="1300" b="1">
                <a:solidFill>
                  <a:srgbClr val="19191E"/>
                </a:solidFill>
                <a:latin typeface="Consolas"/>
              </a:defRPr>
            </a:pPr>
            <a:r>
              <a:t>python -m pytest tests/contract tests/integration tests/e2e -v</a:t>
            </a:r>
          </a:p>
          <a:p>
            <a:pPr>
              <a:defRPr sz="1100">
                <a:solidFill>
                  <a:srgbClr val="50555F"/>
                </a:solidFill>
              </a:defRPr>
            </a:pPr>
            <a:r>
              <a:t>21 pruebas pasando al 100% en 0.35 segundos.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972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7919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8A44"/>
                </a:solidFill>
              </a:defRPr>
            </a:pPr>
            <a:r>
              <a:t>2. Banco Experimental y FPR (C2/C4)</a:t>
            </a:r>
          </a:p>
          <a:p>
            <a:pPr>
              <a:defRPr sz="1300" b="1">
                <a:solidFill>
                  <a:srgbClr val="19191E"/>
                </a:solidFill>
                <a:latin typeface="Consolas"/>
              </a:defRPr>
            </a:pPr>
            <a:r>
              <a:t>python experimentos/run_experimentos.py</a:t>
            </a:r>
          </a:p>
          <a:p>
            <a:pPr>
              <a:defRPr sz="1100">
                <a:solidFill>
                  <a:srgbClr val="50555F"/>
                </a:solidFill>
              </a:defRPr>
            </a:pPr>
            <a:r>
              <a:t>Calcula métricas ISO 25010 desde Locust real y certifica FPR = 0.00%.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1363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557"/>
                </a:solidFill>
              </a:defRPr>
            </a:pPr>
            <a:r>
              <a:t>3. Certificado de Reproducibilidad C4</a:t>
            </a:r>
          </a:p>
          <a:p>
            <a:pPr>
              <a:defRPr sz="1300" b="1">
                <a:solidFill>
                  <a:srgbClr val="19191E"/>
                </a:solidFill>
                <a:latin typeface="Consolas"/>
              </a:defRPr>
            </a:pPr>
            <a:r>
              <a:t>cat experimentos/resultados/REPRODUCIBILIDAD.txt</a:t>
            </a:r>
          </a:p>
          <a:p>
            <a:pPr>
              <a:defRPr sz="1100">
                <a:solidFill>
                  <a:srgbClr val="50555F"/>
                </a:solidFill>
              </a:defRPr>
            </a:pPr>
            <a:r>
              <a:t>Muestra los checksums SHA-256 inmutables de todos los artefactos.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0972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480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32323"/>
                </a:solidFill>
              </a:defRPr>
            </a:pPr>
            <a:r>
              <a:t>4. Verificación de la Rama Main</a:t>
            </a:r>
          </a:p>
          <a:p>
            <a:pPr>
              <a:defRPr sz="1300" b="1">
                <a:solidFill>
                  <a:srgbClr val="19191E"/>
                </a:solidFill>
                <a:latin typeface="Consolas"/>
              </a:defRPr>
            </a:pPr>
            <a:r>
              <a:t>git log -n 3 --oneline</a:t>
            </a:r>
          </a:p>
          <a:p>
            <a:pPr>
              <a:defRPr sz="1100">
                <a:solidFill>
                  <a:srgbClr val="50555F"/>
                </a:solidFill>
              </a:defRPr>
            </a:pPr>
            <a:r>
              <a:t>Demuestra en la cima el commit dcbf3384 (Merge PR #60 de Ernesto Luna).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8A44"/>
                </a:solidFill>
              </a:defRPr>
            </a:pPr>
            <a:r>
              <a:t>ACADTRACE — DEFENSA PFC ENTREGA 4 (BCEL)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Conclusiones: Cumplimiento de Rúbrica TA-PFC-E4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55F"/>
                </a:solidFill>
              </a:defRPr>
            </a:pPr>
            <a:r>
              <a:t>Ernesto Gregory Luna Mora — Responsable de Secretaría y Calidad  |  Diapositiva 12 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557"/>
                </a:solidFill>
              </a:defRPr>
            </a:pPr>
            <a:r>
              <a:t>Logros Técnicos e Individuales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500">
                <a:solidFill>
                  <a:srgbClr val="0F2557"/>
                </a:solidFill>
              </a:rPr>
              <a:t>✓ Cumplimiento Integral de Rúbrica: </a:t>
            </a:r>
            <a:r>
              <a:rPr sz="1400">
                <a:solidFill>
                  <a:srgbClr val="19191E"/>
                </a:solidFill>
              </a:rPr>
              <a:t>Requisitos de Nivel 4 (Sobresaliente) respaldados con evidencia en el repositorio.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0F2557"/>
                </a:solidFill>
              </a:rPr>
              <a:t>✓ Inmutabilidad Real Demostrada: </a:t>
            </a:r>
            <a:r>
              <a:rPr sz="1400">
                <a:solidFill>
                  <a:srgbClr val="19191E"/>
                </a:solidFill>
              </a:rPr>
              <a:t>Defensa en profundidad uniendo trigger PostgreSQL con auditoría criptográfica HMAC-SHA256.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0F2557"/>
                </a:solidFill>
              </a:rPr>
              <a:t>✓ Rigor Ético y Legal (C9): </a:t>
            </a:r>
            <a:r>
              <a:rPr sz="1400">
                <a:solidFill>
                  <a:srgbClr val="19191E"/>
                </a:solidFill>
              </a:rPr>
              <a:t>Cifrado AES-256-GCM para menores de edad en cumplimiento con la LOPDP Ecuador.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0F2557"/>
                </a:solidFill>
              </a:rPr>
              <a:t>✓ Aseguramiento Continuo (C7): </a:t>
            </a:r>
            <a:r>
              <a:rPr sz="1400">
                <a:solidFill>
                  <a:srgbClr val="19191E"/>
                </a:solidFill>
              </a:rPr>
              <a:t>21 pruebas automatizadas continuas de contratos, integración y ciclo E2E.</a:t>
            </a:r>
          </a:p>
          <a:p>
            <a:pPr>
              <a:spcAft>
                <a:spcPts val="1600"/>
              </a:spcAft>
            </a:pPr>
            <a:r>
              <a:rPr b="1" sz="1500">
                <a:solidFill>
                  <a:srgbClr val="0F2557"/>
                </a:solidFill>
              </a:rPr>
              <a:t>✓ Dominio Individual Verificable (C10): </a:t>
            </a:r>
            <a:r>
              <a:rPr sz="1400">
                <a:solidFill>
                  <a:srgbClr val="19191E"/>
                </a:solidFill>
              </a:rPr>
              <a:t>Commits firmados y PR #60 fusionado en la cima de la rama main.</a:t>
            </a:r>
          </a:p>
          <a:p>
            <a:pPr algn="ctr">
              <a:spcBef>
                <a:spcPts val="1800"/>
              </a:spcBef>
              <a:defRPr b="1" sz="1600">
                <a:solidFill>
                  <a:srgbClr val="168A44"/>
                </a:solidFill>
              </a:defRPr>
            </a:pPr>
            <a:r>
              <a:t>¡Muchas gracias! Quedo a disposición de las preguntas del Ingeniero Guerrero.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